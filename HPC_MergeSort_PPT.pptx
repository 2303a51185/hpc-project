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149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822960"/>
            <a:ext cx="475488" cy="594360"/>
          </a:xfrm>
          <a:prstGeom prst="rect">
            <a:avLst/>
          </a:prstGeom>
          <a:solidFill>
            <a:srgbClr val="062D5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850392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24728" y="822960"/>
            <a:ext cx="475488" cy="594360"/>
          </a:xfrm>
          <a:prstGeom prst="rect">
            <a:avLst/>
          </a:prstGeom>
          <a:solidFill>
            <a:srgbClr val="062D5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24728" y="850392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45936" y="822960"/>
            <a:ext cx="475488" cy="594360"/>
          </a:xfrm>
          <a:prstGeom prst="rect">
            <a:avLst/>
          </a:prstGeom>
          <a:solidFill>
            <a:srgbClr val="062D5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936" y="850392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67144" y="822960"/>
            <a:ext cx="475488" cy="594360"/>
          </a:xfrm>
          <a:prstGeom prst="rect">
            <a:avLst/>
          </a:prstGeom>
          <a:solidFill>
            <a:srgbClr val="062D5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67144" y="850392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88352" y="822960"/>
            <a:ext cx="475488" cy="594360"/>
          </a:xfrm>
          <a:prstGeom prst="rect">
            <a:avLst/>
          </a:prstGeom>
          <a:solidFill>
            <a:srgbClr val="062D5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88352" y="850392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09560" y="822960"/>
            <a:ext cx="475488" cy="594360"/>
          </a:xfrm>
          <a:prstGeom prst="rect">
            <a:avLst/>
          </a:prstGeom>
          <a:solidFill>
            <a:srgbClr val="062D5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850392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30768" y="822960"/>
            <a:ext cx="475488" cy="594360"/>
          </a:xfrm>
          <a:prstGeom prst="rect">
            <a:avLst/>
          </a:prstGeom>
          <a:solidFill>
            <a:srgbClr val="062D5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850392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1828800"/>
            <a:ext cx="475488" cy="594360"/>
          </a:xfrm>
          <a:prstGeom prst="rect">
            <a:avLst/>
          </a:prstGeom>
          <a:solidFill>
            <a:srgbClr val="062D5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856232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24728" y="1828800"/>
            <a:ext cx="475488" cy="594360"/>
          </a:xfrm>
          <a:prstGeom prst="rect">
            <a:avLst/>
          </a:prstGeom>
          <a:solidFill>
            <a:srgbClr val="062D5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24728" y="1856232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45936" y="1828800"/>
            <a:ext cx="475488" cy="594360"/>
          </a:xfrm>
          <a:prstGeom prst="rect">
            <a:avLst/>
          </a:prstGeom>
          <a:solidFill>
            <a:srgbClr val="062D5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1856232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67144" y="1828800"/>
            <a:ext cx="475488" cy="594360"/>
          </a:xfrm>
          <a:prstGeom prst="rect">
            <a:avLst/>
          </a:prstGeom>
          <a:solidFill>
            <a:srgbClr val="062D5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67144" y="1856232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88352" y="1828800"/>
            <a:ext cx="475488" cy="594360"/>
          </a:xfrm>
          <a:prstGeom prst="rect">
            <a:avLst/>
          </a:prstGeom>
          <a:solidFill>
            <a:srgbClr val="062D5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88352" y="1856232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09560" y="1828800"/>
            <a:ext cx="475488" cy="594360"/>
          </a:xfrm>
          <a:prstGeom prst="rect">
            <a:avLst/>
          </a:prstGeom>
          <a:solidFill>
            <a:srgbClr val="062D5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1856232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30768" y="1828800"/>
            <a:ext cx="475488" cy="594360"/>
          </a:xfrm>
          <a:prstGeom prst="rect">
            <a:avLst/>
          </a:prstGeom>
          <a:solidFill>
            <a:srgbClr val="062D5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0768" y="1856232"/>
            <a:ext cx="4754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530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unsorted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14630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20040" y="457200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320040" y="117043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4600" dirty="0"/>
          </a:p>
        </p:txBody>
      </p:sp>
      <p:sp>
        <p:nvSpPr>
          <p:cNvPr id="38" name="Text 36"/>
          <p:cNvSpPr/>
          <p:nvPr/>
        </p:nvSpPr>
        <p:spPr>
          <a:xfrm>
            <a:off x="320040" y="2240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Divide &amp; Conquer using Fork/Join Framework in Java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0040" y="2834640"/>
            <a:ext cx="2560320" cy="3657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9718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23CS302PC303 - High Performance Computing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20040" y="335584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Dept: </a:t>
            </a: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AI  |  SR University, Warangal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0040" y="37398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 </a:t>
            </a:r>
            <a:r>
              <a:rPr lang="en-US" sz="12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2025-2026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solidFill>
            <a:srgbClr val="062D52"/>
          </a:solidFill>
          <a:ln w="12700">
            <a:solidFill>
              <a:srgbClr val="062D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4809744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Year II Semester B.Tech CSE  |  Presented by: </a:t>
            </a:r>
            <a:r>
              <a:rPr lang="en-US" sz="1100" dirty="0" err="1" smtClean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CH.Harshini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2EBF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621792" cy="1024128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5331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1188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6642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Merge Sort &amp; why parallelize?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2EBF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621792" cy="1024128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5331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68112" y="1188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Merge Sort 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68112" y="16642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Divide, sort, merge — visually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59152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2EBF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59152"/>
            <a:ext cx="621792" cy="1024128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1518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87552" y="24505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2926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clear goals &amp; requirements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359152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2EBF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59152"/>
            <a:ext cx="621792" cy="1024128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615184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68112" y="24505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Fork/Join 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68112" y="2926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RecursiveTask, threshold, work-stealing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21024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2EBF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21024"/>
            <a:ext cx="621792" cy="1024128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877056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87552" y="371246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Code Walkthrough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7552" y="41879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 explained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21024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2EBF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21024"/>
            <a:ext cx="621792" cy="1024128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877056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468112" y="371246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Speedup Analysis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68112" y="41879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table 100K to 5M elements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41C34"/>
          </a:solidFill>
          <a:ln w="12700">
            <a:solidFill>
              <a:srgbClr val="041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303520" cy="1143000"/>
          </a:xfrm>
          <a:prstGeom prst="rect">
            <a:avLst/>
          </a:prstGeom>
          <a:solidFill>
            <a:srgbClr val="062D52"/>
          </a:solidFill>
          <a:ln w="635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3444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Merge Sort?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divide-and-conquer algorithm. Split array into halves, sort each half, merge. Time: O(N log N) in ALL cases — best, average, worst.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350008"/>
            <a:ext cx="5303520" cy="1143000"/>
          </a:xfrm>
          <a:prstGeom prst="rect">
            <a:avLst/>
          </a:prstGeom>
          <a:solidFill>
            <a:srgbClr val="062D52"/>
          </a:solidFill>
          <a:ln w="635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532888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Parallelize It?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852928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halves are 100% independent — perfect for parallel threads! For 5 million elements, sequential takes 2.3s. Parallel: 0.34s on 8 cores.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648456"/>
            <a:ext cx="5303520" cy="1143000"/>
          </a:xfrm>
          <a:prstGeom prst="rect">
            <a:avLst/>
          </a:prstGeom>
          <a:solidFill>
            <a:srgbClr val="062D52"/>
          </a:solidFill>
          <a:ln w="635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831336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97280" y="37398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Fork/Join Framework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151376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Java's built-in divide-and-conquer framework. RecursiveTask returns a value. ForkJoinPool uses work-stealing for maximum CPU usage.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1051560"/>
            <a:ext cx="3108960" cy="3886200"/>
          </a:xfrm>
          <a:prstGeom prst="rect">
            <a:avLst/>
          </a:prstGeom>
          <a:solidFill>
            <a:srgbClr val="062D52"/>
          </a:solidFill>
          <a:ln w="1524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52160" y="1143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97880" y="1536192"/>
            <a:ext cx="2651760" cy="274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16642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</a:t>
            </a: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always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9788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</a:t>
            </a: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extra memory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27249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Level: </a:t>
            </a: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97880" y="32552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API: </a:t>
            </a: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RecursiveTask + ForkJoinPool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97880" y="378561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</a:t>
            </a: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 elements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97880" y="43159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</a:t>
            </a:r>
            <a:r>
              <a:rPr lang="en-US" sz="110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on all sizes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MERGE SORT WORKS (VISUALLY)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1005840"/>
            <a:ext cx="2743200" cy="548640"/>
          </a:xfrm>
          <a:prstGeom prst="rect">
            <a:avLst/>
          </a:prstGeom>
          <a:solidFill>
            <a:srgbClr val="020B18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0241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[38,27,43,3,9,82,10,16]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5840" y="1874520"/>
            <a:ext cx="2926080" cy="502920"/>
          </a:xfrm>
          <a:prstGeom prst="rect">
            <a:avLst/>
          </a:prstGeom>
          <a:solidFill>
            <a:srgbClr val="062D52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928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[38, 27, 43, 3]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12080" y="1874520"/>
            <a:ext cx="2926080" cy="502920"/>
          </a:xfrm>
          <a:prstGeom prst="rect">
            <a:avLst/>
          </a:prstGeom>
          <a:solidFill>
            <a:srgbClr val="062D52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8928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[9, 82, 10, 16]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2743200"/>
            <a:ext cx="1737360" cy="475488"/>
          </a:xfrm>
          <a:prstGeom prst="rect">
            <a:avLst/>
          </a:prstGeom>
          <a:solidFill>
            <a:srgbClr val="041C34"/>
          </a:solidFill>
          <a:ln w="10160">
            <a:solidFill>
              <a:srgbClr val="4DD0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276148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D0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[38,27]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2743200"/>
            <a:ext cx="1737360" cy="475488"/>
          </a:xfrm>
          <a:prstGeom prst="rect">
            <a:avLst/>
          </a:prstGeom>
          <a:solidFill>
            <a:srgbClr val="041C34"/>
          </a:solidFill>
          <a:ln w="10160">
            <a:solidFill>
              <a:srgbClr val="4DD0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76148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D0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[43,3]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743200"/>
            <a:ext cx="1737360" cy="475488"/>
          </a:xfrm>
          <a:prstGeom prst="rect">
            <a:avLst/>
          </a:prstGeom>
          <a:solidFill>
            <a:srgbClr val="041C34"/>
          </a:solidFill>
          <a:ln w="10160">
            <a:solidFill>
              <a:srgbClr val="4DD0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76148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D0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[9,82]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1737360" cy="475488"/>
          </a:xfrm>
          <a:prstGeom prst="rect">
            <a:avLst/>
          </a:prstGeom>
          <a:solidFill>
            <a:srgbClr val="041C34"/>
          </a:solidFill>
          <a:ln w="10160">
            <a:solidFill>
              <a:srgbClr val="4DD0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76148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D0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[10,16]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3520440"/>
            <a:ext cx="1737360" cy="475488"/>
          </a:xfrm>
          <a:prstGeom prst="rect">
            <a:avLst/>
          </a:prstGeom>
          <a:solidFill>
            <a:srgbClr val="0A3D0A"/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353872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[27,38]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3520440"/>
            <a:ext cx="1737360" cy="475488"/>
          </a:xfrm>
          <a:prstGeom prst="rect">
            <a:avLst/>
          </a:prstGeom>
          <a:solidFill>
            <a:srgbClr val="0A3D0A"/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353872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[3,43]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520440"/>
            <a:ext cx="1737360" cy="475488"/>
          </a:xfrm>
          <a:prstGeom prst="rect">
            <a:avLst/>
          </a:prstGeom>
          <a:solidFill>
            <a:srgbClr val="0A3D0A"/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53872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[9,82]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3520440"/>
            <a:ext cx="1737360" cy="475488"/>
          </a:xfrm>
          <a:prstGeom prst="rect">
            <a:avLst/>
          </a:prstGeom>
          <a:solidFill>
            <a:srgbClr val="0A3D0A"/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538728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[10,16]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1554480"/>
            <a:ext cx="36576" cy="2926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23160" y="1554480"/>
            <a:ext cx="36576" cy="2926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2395728"/>
            <a:ext cx="36576" cy="2926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23160" y="2395728"/>
            <a:ext cx="36576" cy="2926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560" y="3255264"/>
            <a:ext cx="36576" cy="2926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255264"/>
            <a:ext cx="36576" cy="2926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0" y="3255264"/>
            <a:ext cx="36576" cy="2926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3255264"/>
            <a:ext cx="36576" cy="29260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solidFill>
            <a:srgbClr val="0A3D0A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4233672"/>
            <a:ext cx="6400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MERGED: [3, 9, 10, 16, 27, 38, 43, 82]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" y="19202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" y="353872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440" y="423367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05840" y="1554480"/>
            <a:ext cx="2926080" cy="256032"/>
          </a:xfrm>
          <a:prstGeom prst="rect">
            <a:avLst/>
          </a:prstGeom>
          <a:solidFill>
            <a:srgbClr val="001F3F"/>
          </a:solidFill>
          <a:ln w="6350">
            <a:solidFill>
              <a:srgbClr val="0288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15727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1 (fork)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12080" y="1554480"/>
            <a:ext cx="2926080" cy="256032"/>
          </a:xfrm>
          <a:prstGeom prst="rect">
            <a:avLst/>
          </a:prstGeom>
          <a:solidFill>
            <a:srgbClr val="001F3F"/>
          </a:solidFill>
          <a:ln w="6350">
            <a:solidFill>
              <a:srgbClr val="0288D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0" y="157276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2 (compute)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41C34"/>
          </a:solidFill>
          <a:ln w="12700">
            <a:solidFill>
              <a:srgbClr val="041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METHODOLOGY &amp; FORK/JOIN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920240" cy="960120"/>
          </a:xfrm>
          <a:prstGeom prst="rect">
            <a:avLst/>
          </a:prstGeom>
          <a:solidFill>
            <a:srgbClr val="062D52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Timer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1481328"/>
            <a:ext cx="256032" cy="3657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58568" y="1371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41448" y="1051560"/>
            <a:ext cx="1920240" cy="960120"/>
          </a:xfrm>
          <a:prstGeom prst="rect">
            <a:avLst/>
          </a:prstGeom>
          <a:solidFill>
            <a:srgbClr val="062D52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10972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ForkJoinPool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87168" y="1481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Work-stealing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pool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1688" y="1481328"/>
            <a:ext cx="256032" cy="3657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1416" y="1371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54296" y="1051560"/>
            <a:ext cx="1920240" cy="960120"/>
          </a:xfrm>
          <a:prstGeom prst="rect">
            <a:avLst/>
          </a:prstGeom>
          <a:solidFill>
            <a:srgbClr val="062D52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0016" y="10972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MergeSortTask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0016" y="1481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RecursiveTask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&lt;int[]&gt;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74536" y="1481328"/>
            <a:ext cx="256032" cy="3657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4264" y="1371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67144" y="1051560"/>
            <a:ext cx="1920240" cy="960120"/>
          </a:xfrm>
          <a:prstGeom prst="rect">
            <a:avLst/>
          </a:prstGeom>
          <a:solidFill>
            <a:srgbClr val="062D52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12864" y="10972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merge(L, R)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12864" y="1481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halves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331720"/>
            <a:ext cx="2788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BF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331720"/>
            <a:ext cx="2788920" cy="548640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RecursiveTask&lt;int[]&gt;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RecursiveTask — returns value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44728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compute() = divide + fork + join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92277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starts left half async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398264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join() waits and collects result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2331720"/>
            <a:ext cx="2788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BF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331720"/>
            <a:ext cx="2788920" cy="548640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🏊 Work-Stealing Pool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37560" y="29718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ForkJoinPool(cores) manages threads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344728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threads steal from busy ones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392277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all CPU cores usage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37560" y="4398264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thread management needed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2331720"/>
            <a:ext cx="2788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BF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2331720"/>
            <a:ext cx="2788920" cy="548640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2377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Threshold = 4096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09360" y="297180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&lt; 4096 → Arrays.sort() directly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44728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overhead for tiny sub-arrays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3922776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balance: parallelism vs cost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4398264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— 4096 is optimal for most CPUs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28600" y="5102352"/>
            <a:ext cx="8686800" cy="475488"/>
          </a:xfrm>
          <a:prstGeom prst="rect">
            <a:avLst/>
          </a:prstGeom>
          <a:solidFill>
            <a:srgbClr val="062D52"/>
          </a:solidFill>
          <a:ln w="15240">
            <a:solidFill>
              <a:srgbClr val="FFD6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512064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Key insight: leftTask.fork() runs left half ASYNC. rightTask.compute() runs right half on current thread. leftTask.join() waits. Both halves sort in PARALLEL!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41C34"/>
          </a:solidFill>
          <a:ln w="12700">
            <a:solidFill>
              <a:srgbClr val="041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JAVA CODE WALKTHROUGH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5212080" cy="3977640"/>
          </a:xfrm>
          <a:prstGeom prst="rect">
            <a:avLst/>
          </a:prstGeom>
          <a:solidFill>
            <a:srgbClr val="0D1117"/>
          </a:solidFill>
          <a:ln w="1270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 int[] compute() {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2938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(arr.length &lt;= THRESHOLD) {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int[] s = arr.clone();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7785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Arrays.sort(s); return s; // base case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0208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26314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mid = arr.length / 2;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5054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int[] L = copyOfRange(arr, 0, mid);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74777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int[] R = copyOfRange(arr, mid, len);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99008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MergeSortTask leftT  = new MergeSortTask(L);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2324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MergeSortTask rightT = new MergeSortTask(R);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47472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leftT.fork();          // async!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7170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int[] sR = rightT.compute(); // sync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95935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int[] sL = leftT.join();     // wait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20166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merge(sL, sR);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44439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68630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pool.invoke(new MergeSortTask(arr));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0" y="987552"/>
            <a:ext cx="3246120" cy="896112"/>
          </a:xfrm>
          <a:prstGeom prst="rect">
            <a:avLst/>
          </a:prstGeom>
          <a:solidFill>
            <a:srgbClr val="062D52"/>
          </a:solidFill>
          <a:ln w="635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15000" y="107899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36208" y="105156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= Async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6208" y="141732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leftTask.fork() submits left-half sort to the thread pool and RETURNS IMMEDIATELY.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1993392"/>
            <a:ext cx="3246120" cy="896112"/>
          </a:xfrm>
          <a:prstGeom prst="rect">
            <a:avLst/>
          </a:prstGeom>
          <a:solidFill>
            <a:srgbClr val="062D52"/>
          </a:solidFill>
          <a:ln w="635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15000" y="208483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36208" y="20574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compute() = Sync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6208" y="242316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rightTask.compute() sorts the right half on the CURRENT thread — no new thread needed.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2999232"/>
            <a:ext cx="3246120" cy="896112"/>
          </a:xfrm>
          <a:prstGeom prst="rect">
            <a:avLst/>
          </a:prstGeom>
          <a:solidFill>
            <a:srgbClr val="062D52"/>
          </a:solidFill>
          <a:ln w="635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15000" y="309067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36208" y="30632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join() = Wait &amp; Collect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36208" y="342900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leftTask.join() BLOCKS until the forked left sort finishes, then returns the result.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4005072"/>
            <a:ext cx="3246120" cy="896112"/>
          </a:xfrm>
          <a:prstGeom prst="rect">
            <a:avLst/>
          </a:prstGeom>
          <a:solidFill>
            <a:srgbClr val="062D52"/>
          </a:solidFill>
          <a:ln w="635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15000" y="409651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236208" y="406908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merge() = Combine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36208" y="443484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Two-pointer merge of sorted left and right arrays into final sorted result array.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0B18"/>
          </a:solidFill>
          <a:ln w="12700">
            <a:solidFill>
              <a:srgbClr val="020B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RESULTS &amp; SPEEDUP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457200"/>
          </a:xfrm>
          <a:prstGeom prst="rect">
            <a:avLst/>
          </a:prstGeom>
          <a:solidFill>
            <a:srgbClr val="020B18"/>
          </a:solidFill>
          <a:ln w="6350">
            <a:solidFill>
              <a:srgbClr val="028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2412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Size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005840"/>
            <a:ext cx="1645920" cy="457200"/>
          </a:xfrm>
          <a:prstGeom prst="rect">
            <a:avLst/>
          </a:prstGeom>
          <a:solidFill>
            <a:srgbClr val="020B18"/>
          </a:solidFill>
          <a:ln w="6350">
            <a:solidFill>
              <a:srgbClr val="0288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0241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Time (ms)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1005840"/>
            <a:ext cx="1645920" cy="457200"/>
          </a:xfrm>
          <a:prstGeom prst="rect">
            <a:avLst/>
          </a:prstGeom>
          <a:solidFill>
            <a:srgbClr val="020B18"/>
          </a:solidFill>
          <a:ln w="6350">
            <a:solidFill>
              <a:srgbClr val="028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0241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Time (ms)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005840"/>
            <a:ext cx="1463040" cy="457200"/>
          </a:xfrm>
          <a:prstGeom prst="rect">
            <a:avLst/>
          </a:prstGeom>
          <a:solidFill>
            <a:srgbClr val="020B18"/>
          </a:solidFill>
          <a:ln w="6350">
            <a:solidFill>
              <a:srgbClr val="028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10241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1005840"/>
            <a:ext cx="1737360" cy="457200"/>
          </a:xfrm>
          <a:prstGeom prst="rect">
            <a:avLst/>
          </a:prstGeom>
          <a:solidFill>
            <a:srgbClr val="020B18"/>
          </a:solidFill>
          <a:ln w="6350">
            <a:solidFill>
              <a:srgbClr val="028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1024128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463040"/>
            <a:ext cx="2011680" cy="457200"/>
          </a:xfrm>
          <a:prstGeom prst="rect">
            <a:avLst/>
          </a:prstGeom>
          <a:solidFill>
            <a:srgbClr val="D1F4FA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48132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1463040"/>
            <a:ext cx="1645920" cy="457200"/>
          </a:xfrm>
          <a:prstGeom prst="rect">
            <a:avLst/>
          </a:prstGeom>
          <a:solidFill>
            <a:srgbClr val="D1F4FA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14813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1463040"/>
            <a:ext cx="1645920" cy="457200"/>
          </a:xfrm>
          <a:prstGeom prst="rect">
            <a:avLst/>
          </a:prstGeom>
          <a:solidFill>
            <a:srgbClr val="D1F4FA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48132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463040"/>
            <a:ext cx="1463040" cy="457200"/>
          </a:xfrm>
          <a:prstGeom prst="rect">
            <a:avLst/>
          </a:prstGeom>
          <a:solidFill>
            <a:srgbClr val="D1F4FA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148132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4.67x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40880" y="1463040"/>
            <a:ext cx="1737360" cy="457200"/>
          </a:xfrm>
          <a:prstGeom prst="rect">
            <a:avLst/>
          </a:prstGeom>
          <a:solidFill>
            <a:srgbClr val="D1F4FA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1481328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1938528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195681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1938528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195681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31920" y="1938528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195681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77840" y="1938528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195681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5.21x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040880" y="1938528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1956816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414016"/>
            <a:ext cx="2011680" cy="457200"/>
          </a:xfrm>
          <a:prstGeom prst="rect">
            <a:avLst/>
          </a:prstGeom>
          <a:solidFill>
            <a:srgbClr val="D1F4FA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432304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0" y="2414016"/>
            <a:ext cx="1645920" cy="457200"/>
          </a:xfrm>
          <a:prstGeom prst="rect">
            <a:avLst/>
          </a:prstGeom>
          <a:solidFill>
            <a:srgbClr val="D1F4FA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24323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931920" y="2414016"/>
            <a:ext cx="1645920" cy="457200"/>
          </a:xfrm>
          <a:prstGeom prst="rect">
            <a:avLst/>
          </a:prstGeom>
          <a:solidFill>
            <a:srgbClr val="D1F4FA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77640" y="24323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2414016"/>
            <a:ext cx="1463040" cy="457200"/>
          </a:xfrm>
          <a:prstGeom prst="rect">
            <a:avLst/>
          </a:prstGeom>
          <a:solidFill>
            <a:srgbClr val="D1F4FA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23560" y="243230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5.85x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040880" y="2414016"/>
            <a:ext cx="1737360" cy="457200"/>
          </a:xfrm>
          <a:prstGeom prst="rect">
            <a:avLst/>
          </a:prstGeom>
          <a:solidFill>
            <a:srgbClr val="D1F4FA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86600" y="2432304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2889504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290779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5,000,000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86000" y="2889504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29077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2,284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931920" y="2889504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77640" y="290779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577840" y="2889504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23560" y="29077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6.70x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040880" y="2889504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2EB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86600" y="2907792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65760" y="3639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Chart: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97280" y="4041648"/>
            <a:ext cx="2560320" cy="18288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04164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703320" y="40416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4.67x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97280" y="4270248"/>
            <a:ext cx="2834640" cy="18288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27024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977640" y="42702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5.21x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97280" y="4498848"/>
            <a:ext cx="3200400" cy="18288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49884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343400" y="44988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5.85x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097280" y="4727448"/>
            <a:ext cx="3657600" cy="18288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72744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00600" y="47274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6.7x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074920" y="3566160"/>
            <a:ext cx="1280160" cy="1600200"/>
          </a:xfrm>
          <a:prstGeom prst="rect">
            <a:avLst/>
          </a:prstGeom>
          <a:solidFill>
            <a:srgbClr val="020B18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5074920" y="367588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6.70x</a:t>
            </a:r>
            <a:endParaRPr lang="en-US" sz="2400" dirty="0"/>
          </a:p>
        </p:txBody>
      </p:sp>
      <p:sp>
        <p:nvSpPr>
          <p:cNvPr id="69" name="Text 67"/>
          <p:cNvSpPr/>
          <p:nvPr/>
        </p:nvSpPr>
        <p:spPr>
          <a:xfrm>
            <a:off x="5074920" y="4315968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Speedup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(5M elements)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492240" y="3566160"/>
            <a:ext cx="1280160" cy="1600200"/>
          </a:xfrm>
          <a:prstGeom prst="rect">
            <a:avLst/>
          </a:prstGeom>
          <a:solidFill>
            <a:srgbClr val="020B18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6492240" y="367588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6492240" y="4315968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909560" y="3566160"/>
            <a:ext cx="1280160" cy="1600200"/>
          </a:xfrm>
          <a:prstGeom prst="rect">
            <a:avLst/>
          </a:prstGeom>
          <a:solidFill>
            <a:srgbClr val="020B18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7909560" y="367588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</a:t>
            </a:r>
            <a:endParaRPr lang="en-US" sz="2400" dirty="0"/>
          </a:p>
        </p:txBody>
      </p:sp>
      <p:sp>
        <p:nvSpPr>
          <p:cNvPr id="75" name="Text 73"/>
          <p:cNvSpPr/>
          <p:nvPr/>
        </p:nvSpPr>
        <p:spPr>
          <a:xfrm>
            <a:off x="7909560" y="4315968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74320" y="5120640"/>
            <a:ext cx="859536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51389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Speedup grows with array size — larger arrays amortize thread overhead better. 6.70x on 8 cores = 83.75% parallel efficiency. All results verified PASS.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41C34"/>
          </a:solidFill>
          <a:ln w="12700">
            <a:solidFill>
              <a:srgbClr val="041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13232"/>
          </a:xfrm>
          <a:prstGeom prst="rect">
            <a:avLst/>
          </a:prstGeom>
          <a:solidFill>
            <a:srgbClr val="062D52"/>
          </a:solidFill>
          <a:ln w="635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58368" cy="713232"/>
          </a:xfrm>
          <a:prstGeom prst="rect">
            <a:avLst/>
          </a:prstGeom>
          <a:solidFill>
            <a:srgbClr val="0288D1">
              <a:alpha val="70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7043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1069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 = Natural Parallelism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399032"/>
            <a:ext cx="7726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a problem splits into independent sub-problems, those sub-problems can run on parallel threads simultaneously.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8595360" cy="713232"/>
          </a:xfrm>
          <a:prstGeom prst="rect">
            <a:avLst/>
          </a:prstGeom>
          <a:solidFill>
            <a:srgbClr val="062D52"/>
          </a:solidFill>
          <a:ln w="635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10512"/>
            <a:ext cx="658368" cy="713232"/>
          </a:xfrm>
          <a:prstGeom prst="rect">
            <a:avLst/>
          </a:prstGeom>
          <a:solidFill>
            <a:srgbClr val="0288D1">
              <a:alpha val="70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75104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4128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is Non-Blocking, compute() Blocks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203704"/>
            <a:ext cx="7726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submits a task and returns immediately. compute() runs synchronously. This pattern maximizes CPU utilization.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615184"/>
            <a:ext cx="8595360" cy="713232"/>
          </a:xfrm>
          <a:prstGeom prst="rect">
            <a:avLst/>
          </a:prstGeom>
          <a:solidFill>
            <a:srgbClr val="062D52"/>
          </a:solidFill>
          <a:ln w="635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15184"/>
            <a:ext cx="658368" cy="713232"/>
          </a:xfrm>
          <a:prstGeom prst="rect">
            <a:avLst/>
          </a:prstGeom>
          <a:solidFill>
            <a:srgbClr val="0288D1">
              <a:alpha val="70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79776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24128" y="26791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Prevents Over-Threading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3008376"/>
            <a:ext cx="7726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threads for 2-element arrays wastes more time than sorting. Threshold (4096) avoids this overhead perfectly.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419856"/>
            <a:ext cx="8595360" cy="713232"/>
          </a:xfrm>
          <a:prstGeom prst="rect">
            <a:avLst/>
          </a:prstGeom>
          <a:solidFill>
            <a:srgbClr val="062D52"/>
          </a:solidFill>
          <a:ln w="635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19856"/>
            <a:ext cx="658368" cy="713232"/>
          </a:xfrm>
          <a:prstGeom prst="rect">
            <a:avLst/>
          </a:prstGeom>
          <a:solidFill>
            <a:srgbClr val="0288D1">
              <a:alpha val="70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84448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24128" y="3483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Work-Stealing Maximizes CPU Usage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3813048"/>
            <a:ext cx="7726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ForkJoinPool's work-stealing ensures all cores stay busy even when sub-tasks finish at different times.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224528"/>
            <a:ext cx="8595360" cy="713232"/>
          </a:xfrm>
          <a:prstGeom prst="rect">
            <a:avLst/>
          </a:prstGeom>
          <a:solidFill>
            <a:srgbClr val="062D52"/>
          </a:solidFill>
          <a:ln w="635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24528"/>
            <a:ext cx="658368" cy="713232"/>
          </a:xfrm>
          <a:prstGeom prst="rect">
            <a:avLst/>
          </a:prstGeom>
          <a:solidFill>
            <a:srgbClr val="0288D1">
              <a:alpha val="70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3891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4128" y="42885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Problems = Better Speedup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4617720"/>
            <a:ext cx="7726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creation costs the same regardless of array size. Bigger arrays get more benefit, so speedup improves with 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B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4114800"/>
            <a:ext cx="475488" cy="274320"/>
          </a:xfrm>
          <a:prstGeom prst="rect">
            <a:avLst/>
          </a:prstGeom>
          <a:solidFill>
            <a:srgbClr val="0288D1">
              <a:alpha val="70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41605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550408" y="4050792"/>
            <a:ext cx="475488" cy="338328"/>
          </a:xfrm>
          <a:prstGeom prst="rect">
            <a:avLst/>
          </a:prstGeom>
          <a:solidFill>
            <a:srgbClr val="0288D1">
              <a:alpha val="65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50408" y="41605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71616" y="3986784"/>
            <a:ext cx="475488" cy="402336"/>
          </a:xfrm>
          <a:prstGeom prst="rect">
            <a:avLst/>
          </a:prstGeom>
          <a:solidFill>
            <a:srgbClr val="0288D1">
              <a:alpha val="60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71616" y="41605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92824" y="3922776"/>
            <a:ext cx="475488" cy="466344"/>
          </a:xfrm>
          <a:prstGeom prst="rect">
            <a:avLst/>
          </a:prstGeom>
          <a:solidFill>
            <a:srgbClr val="0288D1">
              <a:alpha val="55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2824" y="41605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14032" y="3858768"/>
            <a:ext cx="475488" cy="530352"/>
          </a:xfrm>
          <a:prstGeom prst="rect">
            <a:avLst/>
          </a:prstGeom>
          <a:solidFill>
            <a:srgbClr val="0288D1">
              <a:alpha val="50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14032" y="41605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35240" y="3794760"/>
            <a:ext cx="475488" cy="594360"/>
          </a:xfrm>
          <a:prstGeom prst="rect">
            <a:avLst/>
          </a:prstGeom>
          <a:solidFill>
            <a:srgbClr val="0288D1">
              <a:alpha val="45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41605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56448" y="3730752"/>
            <a:ext cx="475488" cy="658368"/>
          </a:xfrm>
          <a:prstGeom prst="rect">
            <a:avLst/>
          </a:prstGeom>
          <a:solidFill>
            <a:srgbClr val="0288D1">
              <a:alpha val="40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6448" y="41605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77656" y="3666744"/>
            <a:ext cx="475488" cy="722376"/>
          </a:xfrm>
          <a:prstGeom prst="rect">
            <a:avLst/>
          </a:prstGeom>
          <a:solidFill>
            <a:srgbClr val="0288D1">
              <a:alpha val="35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77656" y="41605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73152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320040" y="187452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  →  sort  →  join()  →  merge()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040" y="2487168"/>
            <a:ext cx="2743200" cy="457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67004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 Merge Sort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23CS302PC303  ·  HPC  ·  SR University  ·  2025-2026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547872"/>
            <a:ext cx="5029200" cy="658368"/>
          </a:xfrm>
          <a:prstGeom prst="rect">
            <a:avLst/>
          </a:prstGeom>
          <a:solidFill>
            <a:srgbClr val="062D52"/>
          </a:solidFill>
          <a:ln w="15240">
            <a:solidFill>
              <a:srgbClr val="0288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7530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💬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</Words>
  <Application>Microsoft Office PowerPoint</Application>
  <PresentationFormat>On-screen Show (16:9)</PresentationFormat>
  <Paragraphs>222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Multithreaded Merge Sort</dc:title>
  <dc:subject>PptxGenJS Presentation</dc:subject>
  <dc:creator>PptxGenJS</dc:creator>
  <cp:lastModifiedBy>varshith</cp:lastModifiedBy>
  <cp:revision>2</cp:revision>
  <dcterms:created xsi:type="dcterms:W3CDTF">2026-03-25T09:44:42Z</dcterms:created>
  <dcterms:modified xsi:type="dcterms:W3CDTF">2026-03-27T06:30:41Z</dcterms:modified>
</cp:coreProperties>
</file>